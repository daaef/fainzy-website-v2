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Fainzy Website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3A3A3"/>
                </a:solidFill>
              </a:defRPr>
            </a:pPr>
            <a:r>
              <a:t>Media Dimensions &amp; Specifications Guide</a:t>
            </a:r>
          </a:p>
          <a:p>
            <a:r>
              <a:t>Optimized for 1920x1080 Viewport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HOME PAGE (/)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Main landing page with hero carousel, product showcases, and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Hero Carousel Slide 1: ZiBot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Hero carousel slide - First slide showcasing ZiBot product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1920x1080px (Full viewport background) | Product Image: 1200x500px (center positioned)</a:t>
            </a:r>
          </a:p>
          <a:p>
            <a:pPr>
              <a:defRPr sz="1200" b="1">
                <a:solidFill>
                  <a:srgbClr val="EC4899"/>
                </a:solidFill>
              </a:defRPr>
            </a:pPr>
            <a:r>
              <a:t>Recommendation: Animated GIF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'ZiBot', Subtitle: 'Anything Anytime Anywhere Delivery'. Shows ZiBot robot with animation entrance effects. Recommend: Robot movement GIF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Hero Carousel Slide 2: Glide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Hero carousel slide - Second slide showcasing Glide product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1920x1080px (Full viewport) | Product Image: 1200x500px</a:t>
            </a:r>
          </a:p>
          <a:p>
            <a:pPr>
              <a:defRPr sz="1200" b="1">
                <a:solidFill>
                  <a:srgbClr val="EC4899"/>
                </a:solidFill>
              </a:defRPr>
            </a:pPr>
            <a:r>
              <a:t>Recommendation: Animated GIF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'Glide', Subtitle: 'Anything Anytime Anywhere Delivery'. Shows Glide scooter. Recommend: Scooter in motion GIF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Hero Carousel Slide 3: Consultancy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Hero carousel slide - Third slide for Fainzy Consultancy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1920x1080px (Full viewport) | Product Image: 1200x500px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'Fainzy Consultancy'. Professional consultancy services image with team or tech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ZiBot Demo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5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Main product demonstration video below hero section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1200x675px (16:9 aspect ratio, max-width container)</a:t>
            </a:r>
          </a:p>
          <a:p>
            <a:pPr>
              <a:defRPr sz="1200" b="1">
                <a:solidFill>
                  <a:srgbClr val="22C55E"/>
                </a:solidFill>
              </a:defRPr>
            </a:pPr>
            <a:r>
              <a:t>Recommendation: Video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Autoplay looping video showcasing ZiBot in action, deliveries, and navigation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7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Product Showcase: ZiBot Last Mile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1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Product section - ZiBot Last Mile Delivery System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600x600px (Square product image in alternating layout)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'ZiBot Last Mile Delivery Robot System', Features: 24/7, Cost Effective, Eco-Friendly, Reliable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72083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Product Showcase: Glide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04087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Product section - Glide autonomous scooter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600x600px (Square product image, reverse layout)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'Glide', Description: Autonomous scooter summon service like Uber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Product Showcase: Consultancy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Product section - Fainzy Consultancy Services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600x600px (Square product image)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'Fainzy Consultancy Services', Professional consulting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Custom Solutions Carousel (5 items)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Scrolling carousel showcasing custom robotics solutions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Each slide: 960x700px (2/3 viewport width) | Product images: 500x500px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Solutions: Customized Robots, IoT Solutions, MiraX, Food Ordering System, Hotel Delivery. Recommend carousel with smooth transitions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ABOUT PAGE (/about)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Company history, vision, team members, and recruitment CTA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About Hero Banner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Page header background image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1920x802px (Full-width hero section, min-height: 802px)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'About Us', Subtitle: 'All you need to know about us'. Professional team or office environment photo with dark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Founded Section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Company story section - Foundation image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528x500px (Left-aligned image in two-column layout)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'Founded in 2018. Headquartered in Nagoya.' Historical or office establishment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People Behind Innovation Banner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Full-width banner image for team section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1920x567px (Full-width, min-height: 567px)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'The People Behind The Innovation'. Team collaboration or innovation workspace photo with gradient overlay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Vision Section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5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Vision statement section - Right-aligned image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528x500px (Right-aligned in two-column layout)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'Our Vision'. Futuristic technology or robotics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7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Team Member Photos (7 members)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1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Team grid - Individual portraits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280x320px each (Portrait cards in 4-column grid)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Team: Dr. Jude (CEO), Emmanuel (Tech Lead), Patrick (Design Lead), Michael (Project Lead), Lazarus (Developer), Prof. Tatsuya (Advisor), Prof. Hiroyuki (Advisor)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72083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Join Us CTA Banner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04087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Bottom call-to-action background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1920x551px (Full-width CTA section)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'Let's do great things together'. Inspiring team or workspace photo with overlays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BLOG PAGE (/blog)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Blog listing with featured post and article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Featured Blog Post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Featured article large image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960x548px (50% width on desktop, full-width mobile, 16:9 aspect)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'The Future of Autonomous Delivery'. High-quality editorial image from Unsplash showcasing ZiBot or delivery robots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Blog Post Thumbnails (6 posts)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Blog card grid - Thumbnail images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400x224px each (3-column grid, 16:9 aspect ratio)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Categories: Business, Technology, Case Study, Careers, Sustainability. Editorial-style images for each topic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BLOG POST DETAIL (/blog/[id])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Individual article page with hero image and inline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Article Hero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Full-width article header image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1920x500px (Full-width header, 16:9 aspect)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'5 Ways Autonomous Robots Are Transforming Hospitality'. Hotel/restaurant robot service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In-Article Image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Inline content image for Guest Experiences section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1200x400px (Article width, 3:1 aspect ratio)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Section: 'Enhanced Guest Experiences Through Technology'. Modern hotel lobby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In-Article Image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Inline content image for Cost Efficiency section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1200x400px (Article width)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Section: 'Cost Efficiency and Strong ROI'. Restaurant robot service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Related Article Thumbnails (3 posts)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5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Similar articles grid at bottom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400x208px each (3-column grid, 16:9)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AI/ML, Restaurant Case Study, Sensor Technology articles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CAREERS PAGE (/careers)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Job listings, company culture, benefits, and application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Careers Hero Banner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Page header background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1920x600px (Full-width hero, minimum 60vh)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'Join Us in Building the Future'. Inspiring team workspace or innovation lab photo with dark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Department Cards (3 departments)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Department showcase cards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400x250px each (3-column grid cards)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Engineering &amp; Technology, Product &amp; Design, Operations &amp; Manufacturing. Each with relevant workspace photos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World-Class Facilities Banner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Full-width facility showcase section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1920x500px (Full-width, minimum 50vh)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'World-Class Facilities'. Modern lab or facility photo with dark overlay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Benefits Section Images (3 images)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5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Alternating layout benefit sections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600x320px each (Side-by-side with text)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Benefits &amp; Perks, Innovation at Scale, Continuous Growth. Professional work environment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7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Team Environment Photo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1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Full-width team section divider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1920x288px (Full-width, height: 72px on 1080p)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Team collaboration photo with gradient overlay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CONTACT PAGE (/contact)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Contact form, office information, and location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Social Media Icons (3 icons)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Social media links - Twitter, LinkedIn, Instagram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40x40px each (Icon buttons with 16px icons)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SVG icons from lucide-react library with hover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Interactive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Office location map (Nagoya University)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1920x400px (Full container width, approx 400px height)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Mapbox/Google Maps embedded showing Nagoya University Incubation Facility location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 SOLUTIONS PAGE (/custom-solutions)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Custom robotics solutions with carousel and inquiry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Custom Solutions Carousel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Top carousel showcasing custom solutions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Each slide: 960x700px | Product images: 500x600px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3 solutions: Consultancy, Customized Robots, IoT Solutions. Each with features grid and contact CTA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PRODUCTS PAGE (/products)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Complete product catalog and custom solutions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Products Hero Banner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Page header background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1920x600px (Full-width hero)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'Our Products &amp; Services'. Professional products showcase with dark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Product Showcases (Same as Home)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ZiBot, Glide, Consultancy product sections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600x600px each (Alternating layout)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Identical to home page product sections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Custom Solutions Carousel (5 items)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Same as home page custom solutions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960x700px slides | 500x500px images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MiraX, Efficient Food Ordering, Hotel Delivery, Customized Robots, IoT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PRODUCT DETAIL: ZiBot (/products/zibot)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Comprehensive ZiBot product page with extensive video and carousel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ZiBot Hero Background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Full-screen hero section with looping background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1920x1080px (Full viewport, opacity: 50%)</a:t>
            </a:r>
          </a:p>
          <a:p>
            <a:pPr>
              <a:defRPr sz="1200" b="1">
                <a:solidFill>
                  <a:srgbClr val="22C55E"/>
                </a:solidFill>
              </a:defRPr>
            </a:pPr>
            <a:r>
              <a:t>Recommendation: Video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'ZIBOT - Anything Anytime Anywhere Delivery'. Looping video showing ZiBot in action with radial gradient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Product Demo Video 1: Cozy Dinners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2 video demonstration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1200x675px (Container max-width, 16:9 aspect)</a:t>
            </a:r>
          </a:p>
          <a:p>
            <a:pPr>
              <a:defRPr sz="1200" b="1">
                <a:solidFill>
                  <a:srgbClr val="22C55E"/>
                </a:solidFill>
              </a:defRPr>
            </a:pPr>
            <a:r>
              <a:t>Recommendation: Video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'From Cozy Dinners to Office Lunches'. Autoplay looping video of ZiBot delivering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Product Demo Video 2: Hot and 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3 video demonstration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1200x675px (16:9 aspect)</a:t>
            </a:r>
          </a:p>
          <a:p>
            <a:pPr>
              <a:defRPr sz="1200" b="1">
                <a:solidFill>
                  <a:srgbClr val="22C55E"/>
                </a:solidFill>
              </a:defRPr>
            </a:pPr>
            <a:r>
              <a:t>Recommendation: Video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'Hot and Fresh. Every Single Time.' Video showing temperature-controlled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LargeFeatureCarousel: Main Features (3 slides)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5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4 carousel - Key features showcase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Each slide: 1280x500px (2/3 viewport width on desktop)</a:t>
            </a:r>
          </a:p>
          <a:p>
            <a:pPr>
              <a:defRPr sz="1200" b="1">
                <a:solidFill>
                  <a:srgbClr val="EC4899"/>
                </a:solidFill>
              </a:defRPr>
            </a:pPr>
            <a:r>
              <a:t>Recommendation: Animated GIF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1) 24/7 Availability - GIF of robot operating day/night. 2) All-Weather Operation - GIF in rain/snow. 3) Zero Contact - GIF of contactless delivery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7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LargeFeatureCarousel: 360° Sensing (3 slides)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1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7 carousel - Environmental sensing features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1280x500px per slide</a:t>
            </a:r>
          </a:p>
          <a:p>
            <a:pPr>
              <a:defRPr sz="1200" b="1">
                <a:solidFill>
                  <a:srgbClr val="EC4899"/>
                </a:solidFill>
              </a:defRPr>
            </a:pPr>
            <a:r>
              <a:t>Recommendation: Animated GIF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1) Accurate Navigation - GIF of precise routing. 2) Traffic Navigation - GIF navigating obstacles. 3) Never Gets Tired - GIF of continuous 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72083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Cloud Intelligence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04087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9 video with overlay text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1200x675px (16:9)</a:t>
            </a:r>
          </a:p>
          <a:p>
            <a:pPr>
              <a:defRPr sz="1200" b="1">
                <a:solidFill>
                  <a:srgbClr val="22C55E"/>
                </a:solidFill>
              </a:defRPr>
            </a:pPr>
            <a:r>
              <a:t>Recommendation: Video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'Connected Cloud Intelligence'. Video showing real-time monitoring dashboard. Overlay text: 'Get orders'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LargeFeatureCarousel: Durability (6 slides)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10 carousel - Built to Handle Anything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1280x500px per slide</a:t>
            </a:r>
          </a:p>
          <a:p>
            <a:pPr>
              <a:defRPr sz="1200" b="1">
                <a:solidFill>
                  <a:srgbClr val="EC4899"/>
                </a:solidFill>
              </a:defRPr>
            </a:pPr>
            <a:r>
              <a:t>Recommendation: Animated GIF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1) Never Gets Sick - Autonomous operation. 2) All-Weather - GIF in various conditions. 3) Rough Terrain - GIF on curbs/steps. 4) Crowds - GIF navigating pedestrians. 5) Security - Monitoring visualization. 6) Precision - GPS tracking GIF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Safe Operation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11 medium-height video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1200x500px (Medium height, 12:5 aspect)</a:t>
            </a:r>
          </a:p>
          <a:p>
            <a:pPr>
              <a:defRPr sz="1200" b="1">
                <a:solidFill>
                  <a:srgbClr val="22C55E"/>
                </a:solidFill>
              </a:defRPr>
            </a:pPr>
            <a:r>
              <a:t>Recommendation: Video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'Built to Operate Safely'. Safety features demonstration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LargeFeatureCarousel: Safe Food (3 slides)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12 carousel - Food safety features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1280x500px per slide</a:t>
            </a:r>
          </a:p>
          <a:p>
            <a:pPr>
              <a:defRPr sz="1200" b="1">
                <a:solidFill>
                  <a:srgbClr val="EC4899"/>
                </a:solidFill>
              </a:defRPr>
            </a:pPr>
            <a:r>
              <a:t>Recommendation: Animated GIF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1) 360° Awareness - GIF of sensor visualization. 2) Navigate Barriers - GIF avoiding obstacles. 3) Absorbs Bumps - GIF of suspension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Robot Comparison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6 - Technical specs visualization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600x600px (Robot side view with spec callouts)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Specifications: 20km range, 30kg payload, 5km/h speed. Annotated robot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Navigate Environment Grid (6 items)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47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8 - Feature grid around robot image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Each icon/image: 200x200px | Center robot: 400x400px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Smart Sensors, AI Awareness, Pedestrian Detection, Smart Routing, GPS Accuracy, Obstacle Handling. Icons or small illustrations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1499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Transform Business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3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17 - Business transformation showcase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1200x400px (Wide aspect video)</a:t>
            </a:r>
          </a:p>
          <a:p>
            <a:pPr>
              <a:defRPr sz="1200" b="1">
                <a:solidFill>
                  <a:srgbClr val="22C55E"/>
                </a:solidFill>
              </a:defRPr>
            </a:pPr>
            <a:r>
              <a:t>Recommendation: Video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'Transform Your Business Operations'. Stats: 30% savings, 15% fee, 6 steps to go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76655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Specifications Robot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08659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22 - Technical specifications section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800x600px (Right-aligned product image)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Detailed ZiBot specifications diagram with callouts for dimensions, battery, controls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Final CTA Robot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23 - Footer call-to-action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320x320px (Square product image)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ZiBot product shot for 'Get Started' CTA 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No Boundaries Video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 21 - Feature section background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1920x700px (Full-width, medium height)</a:t>
            </a:r>
          </a:p>
          <a:p>
            <a:pPr>
              <a:defRPr sz="1200" b="1">
                <a:solidFill>
                  <a:srgbClr val="22C55E"/>
                </a:solidFill>
              </a:defRPr>
            </a:pPr>
            <a:r>
              <a:t>Recommendation: Video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Title: 'No Boundaries. No Limits.' Looping video of indoor/outdoor operations with radial gradient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Implementation guidance and technical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MEDIA TYPE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Summary statistics across all pages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Total Static Images: ~70 | Videos: 8 | Recommended GIFs: 15 (currently static images in carousels)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KEY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Implementation guidance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EC4899"/>
                </a:solidFill>
              </a:defRPr>
            </a:pPr>
            <a:r>
              <a:t>Recommendation: Animated GIF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Priority 1 (Videos): Keep all existing videos - ZiBot demos, product showcases</a:t>
            </a:r>
            <a:br/>
            <a:r>
              <a:t>Priority 2 (Convert to GIF): LargeFeatureCarousel items on ZiBot page (15 slides total)</a:t>
            </a:r>
            <a:br/>
            <a:r>
              <a:t>Priority 3 (Keep Static): Hero carousel slides, team photos, blog images, product cards</a:t>
            </a:r>
            <a:br/>
            <a:r>
              <a:t>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ANIMATION OPPORTUNITIES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Sections that would benefit from motion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EC4899"/>
                </a:solidFill>
              </a:defRPr>
            </a:pPr>
            <a:r>
              <a:t>Recommendation: Animated GIF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✓ Robot navigation demonstrations (obstacles, traffic, crowds)</a:t>
            </a:r>
            <a:br/>
            <a:r>
              <a:t>✓ Weather operation scenarios (rain, snow, day/night)</a:t>
            </a:r>
            <a:br/>
            <a:r>
              <a:t>✓ Contactless delivery process</a:t>
            </a:r>
            <a:br/>
            <a:r>
              <a:t>✓ Sensor visualization and 360° awareness</a:t>
            </a:r>
            <a:br/>
            <a:r>
              <a:t>✓ UI/dashboard interactions</a:t>
            </a:r>
            <a:br/>
            <a:r>
              <a:t> 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TECHNICAL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5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Development considerations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Standard viewport: 1920x1080px (Desktop)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- All dimensions calculated for optimal display on 1920x1080 screens</a:t>
            </a:r>
            <a:br/>
            <a:r>
              <a:t>- Maintain aspect ratios: 16:9 for videos, varies for product images</a:t>
            </a:r>
            <a:br/>
            <a:r>
              <a:t>- Use WebP format for static images for better compression</a:t>
            </a:r>
            <a:br/>
            <a:r>
              <a:t>- Optimize GIF file sizes (max 3-5MB, use tools like ezgif.com)</a:t>
            </a:r>
            <a:br/>
            <a:r>
              <a:t>- Video format: MP4 H.264, with autoplay/loop/muted attributes</a:t>
            </a:r>
            <a:br/>
            <a:r>
              <a:t>- Consider lazy loading for below-fold media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BACKEND API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Endpoints needed for dynamic content and form submissions - Priority: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Contact Form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POST /api/contact - Handle general inquiries and customer contact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Fields: name (required), email (required), subject, phone, message (required, min 135 chars), reason (dropdown)</a:t>
            </a:r>
            <a:br/>
            <a:r>
              <a:t>Reason Options: General Inquiry, Partnership Opportunity, Technical Support, Sales Inquiry, Feedback, Other</a:t>
            </a:r>
            <a:br/>
            <a:r>
              <a:t>Response: { success: boolean, message: string, ticketId?: string }</a:t>
            </a:r>
            <a:br/>
            <a:r>
              <a:t>Integrations: SendGrid/AWS SES for email, HubSpot/Salesforce for CRM</a:t>
            </a:r>
            <a:br/>
            <a:r>
              <a:t>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Newsletter Subscription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POST /api/newsletter/subscribe - Collect email subscriptions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Fields: email (required with validation), consentGiven (boolean), source (string), timestamp</a:t>
            </a:r>
            <a:br/>
            <a:r>
              <a:t>Response: { success: boolean, message: string }</a:t>
            </a:r>
            <a:br/>
            <a:r>
              <a:t>Integrations: Mailchimp, SendGrid Marketing, or ConvertKit</a:t>
            </a:r>
            <a:br/>
            <a:r>
              <a:t>Terms: "By subscribing, you agree to our Privacy Policy..."</a:t>
            </a:r>
            <a:br/>
            <a:r>
              <a:t>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Blog Content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GET /api/blog/posts, GET /api/blog/posts/:id - Manage blog content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List: ?limit=10&amp;offset=0&amp;category=Technology</a:t>
            </a:r>
            <a:br/>
            <a:r>
              <a:t>Response: { posts: Array&lt;{id, title, category, description, date, readTime, image}&gt;, total }</a:t>
            </a:r>
            <a:br/>
            <a:r>
              <a:t>Detail: Full post with content (HTML/Markdown), author, tags, relatedPosts</a:t>
            </a:r>
            <a:br/>
            <a:r>
              <a:t>Current: 6 hardcoded posts (Business, Technology, Case Study, Careers, Sustainability)</a:t>
            </a:r>
            <a:br/>
            <a:r>
              <a:t>Categories: Business, Technology, Case Study, Careers, Sustainability</a:t>
            </a:r>
            <a:br/>
            <a:r>
              <a:t> 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Careers &amp; Jobs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5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GET /api/careers/jobs, POST /api/careers/apply - Job listings and applications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List: ?department=Engineering&amp;type=Full%20time&amp;location=Remote</a:t>
            </a:r>
            <a:br/>
            <a:r>
              <a:t>Fields: id (UUID), title, location, date, type, salary, skills, description, responsibilities, requirements</a:t>
            </a:r>
            <a:br/>
            <a:r>
              <a:t>Apply: jobId, applicantInfo (name, email, phone, resume file, coverLetter, linkedin, portfolio)</a:t>
            </a:r>
            <a:br/>
            <a:r>
              <a:t>Current: 9 jobs hardcoded (Engineering, Product, Operations)</a:t>
            </a:r>
            <a:br/>
            <a:r>
              <a:t>Salary Range: ₦600,000 - ₦2,500,000 (Nigerian Naira)</a:t>
            </a:r>
            <a:br/>
            <a:r>
              <a:t>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7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FAQs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1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GET /api/faqs?locale=en - Frequently Asked Questions with localization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Response: { faqs: Array&lt;{id, question, answer, category, locale}&gt; }</a:t>
            </a:r>
            <a:br/>
            <a:r>
              <a:t>Current: 24 FAQs total - 12 English (content:1), 12 Japanese (content:2)</a:t>
            </a:r>
            <a:br/>
            <a:r>
              <a:t>Localization: Filtered by locale parameter</a:t>
            </a:r>
            <a:br/>
            <a:r>
              <a:t>Storage: Currently hardcoded in component, should be in database</a:t>
            </a:r>
            <a:br/>
            <a:r>
              <a:t>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72083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Products &amp; Solutions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04087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GET /api/products, GET /api/custom-solutions - Product catalog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Products: ZiBot Last Mile Delivery, Glide (Autonomous Scooter), Fainzy Consultancy Services</a:t>
            </a:r>
            <a:br/>
            <a:r>
              <a:t>Custom Solutions: 5 solutions (Customized Robots, IoT Solutions, MiraX, Food Ordering, Hotel Delivery)</a:t>
            </a:r>
            <a:br/>
            <a:r>
              <a:t>Fields: id, title, description, image, features (Array&lt;{title, subtitle, icon}&gt;), category, price, availability</a:t>
            </a:r>
            <a:br/>
            <a:r>
              <a:t>Current: All hardcoded in page.tsx files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SAMPLE DATA &amp; VALIDATION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Recommended test data and validation requirements for forms and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Contact Form Sample Submissions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Sample data for testing and backend development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Example 1 (Japanese):</a:t>
            </a:r>
            <a:br/>
            <a:r>
              <a:t>  name: "山本 隆", email: "tyamamoto@example.jp", phone: "+81-90-1234-5678"</a:t>
            </a:r>
            <a:br/>
            <a:r>
              <a:t>  subject: "Partnership Inquiry", reason: "Partnership Opportunity"</a:t>
            </a:r>
            <a:br/>
            <a:r>
              <a:t>  message: "I represent a hotel chain in Tokyo interested in implementing ZiBot for room service..."</a:t>
            </a:r>
            <a:br/>
            <a:br/>
            <a:r>
              <a:t>Example 2 (English):</a:t>
            </a:r>
            <a:br/>
            <a:r>
              <a:t>  name: "Sarah Mitchell", email: "sarah.m@restaurantgroup.com"</a:t>
            </a:r>
            <a:br/>
            <a:r>
              <a:t>  subject: "Custom Robot Request", reason: "Custom Robot"</a:t>
            </a:r>
            <a:br/>
            <a:r>
              <a:t>  message: "Our restaurant chain needs a custom delivery robot for outdoor patio service..."</a:t>
            </a:r>
            <a:br/>
            <a:br/>
            <a:r>
              <a:t>Example 3 (Technical Support):</a:t>
            </a:r>
            <a:br/>
            <a:r>
              <a:t>  name: "Alex Chen", email: "alex.chen@techcorp.com", phone: "+1-415-555-0123"</a:t>
            </a:r>
            <a:br/>
            <a:r>
              <a:t>  reason: "Technical Support", message: "ZiBot navigation issues in crowded areas..."</a:t>
            </a:r>
            <a:br/>
            <a:r>
              <a:t>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Blog Post Full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Complete blog post data format with all fields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{</a:t>
            </a:r>
            <a:br/>
            <a:r>
              <a:t>  "id": 1, "title": "5 Ways Autonomous Robots Are Transforming Hospitality",</a:t>
            </a:r>
            <a:br/>
            <a:r>
              <a:t>  "slug": "autonomous-robots-hospitality", "category": "Business",</a:t>
            </a:r>
            <a:br/>
            <a:r>
              <a:t>  "tags": ["Hospitality", "Automation", "ZiBot", "Hotels"],</a:t>
            </a:r>
            <a:br/>
            <a:r>
              <a:t>  "description": "From room service to concierge duties, discover how robots like ZiBot...",</a:t>
            </a:r>
            <a:br/>
            <a:r>
              <a:t>  "content": "&lt;full HTML content&gt;", "featuredImage": "https://images.unsplash.com/...",</a:t>
            </a:r>
            <a:br/>
            <a:r>
              <a:t>  "author": { "name": "Fainzy Technologies", "role": "Editorial Team", "avatar": "/logo.png" },</a:t>
            </a:r>
            <a:br/>
            <a:r>
              <a:t>  "publishedAt": "2025-10-20T08:00:00Z", "readTime": "6 min read",</a:t>
            </a:r>
            <a:br/>
            <a:r>
              <a:t>  "views": 12500, "likes": 3542,</a:t>
            </a:r>
            <a:br/>
            <a:r>
              <a:t>  "tableOfContents": ["Introduction", "Revolutionizing Room Service", ...]</a:t>
            </a:r>
            <a:br/>
            <a:r>
              <a:t>}</a:t>
            </a:r>
            <a:br/>
            <a:r>
              <a:t>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Job Application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Complete job application submission structure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{</a:t>
            </a:r>
            <a:br/>
            <a:r>
              <a:t>  "id": "app-001", "jobId": "3f8a5c2e-1d4b-4e9f-a6c7-8b2d4e6f9a1c",</a:t>
            </a:r>
            <a:br/>
            <a:r>
              <a:t>  "jobTitle": "Software Developer (Full-Stack)",</a:t>
            </a:r>
            <a:br/>
            <a:r>
              <a:t>  "applicant": {</a:t>
            </a:r>
            <a:br/>
            <a:r>
              <a:t>    "name": "Alex Chen", "email": "alex.chen@email.com", "phone": "+1-415-555-0123",</a:t>
            </a:r>
            <a:br/>
            <a:r>
              <a:t>    "linkedin": "linkedin.com/in/alexchen", "portfolio": "alexchen.dev"</a:t>
            </a:r>
            <a:br/>
            <a:r>
              <a:t>  },</a:t>
            </a:r>
            <a:br/>
            <a:r>
              <a:t>  "resume": { "filename": "alex_chen_resume.pdf", "url": "/uploads/resumes/..." },</a:t>
            </a:r>
            <a:br/>
            <a:r>
              <a:t>  "coverLetter": "I am excited to apply for the Full-Stack Developer position...",</a:t>
            </a:r>
            <a:br/>
            <a:r>
              <a:t>  "expectedSalary": "₦850,000", "availableStartDate": "2026-01-15",</a:t>
            </a:r>
            <a:br/>
            <a:r>
              <a:t>  "applicationStatus": "under_review", "submittedAt": "2025-11-21T16:50:00Z"</a:t>
            </a:r>
            <a:br/>
            <a:r>
              <a:t>}</a:t>
            </a:r>
            <a:br/>
            <a:r>
              <a:t> 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Form Validation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5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Client-side and server-side validation requirements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Contact Form:</a:t>
            </a:r>
            <a:br/>
            <a:r>
              <a:t>  - name: required, min 2 chars, max 100 chars</a:t>
            </a:r>
            <a:br/>
            <a:r>
              <a:t>  - email: required, valid email format (RFC 5322)</a:t>
            </a:r>
            <a:br/>
            <a:r>
              <a:t>  - message: required, min 135 chars (main form) or 10 chars (alternative form)</a:t>
            </a:r>
            <a:br/>
            <a:r>
              <a:t>  - phone: optional, E.164 format validation recommended</a:t>
            </a:r>
            <a:br/>
            <a:r>
              <a:t>  - agree: required checkbox for terms acceptance</a:t>
            </a:r>
            <a:br/>
            <a:br/>
            <a:r>
              <a:t>Job Application:</a:t>
            </a:r>
            <a:br/>
            <a:r>
              <a:t>  - resume: required, PDF/DOCX only, max 5MB</a:t>
            </a:r>
            <a:br/>
            <a:r>
              <a:t>  - coverLetter: optional, max 2000 chars or file upload</a:t>
            </a:r>
            <a:br/>
            <a:r>
              <a:t>  - expectedSalary: optional, numeric validation</a:t>
            </a:r>
            <a:br/>
            <a:r>
              <a:t>  - availableStartDate: date validation, not in past</a:t>
            </a:r>
            <a:br/>
            <a:br/>
            <a:r>
              <a:t>Newsletter:</a:t>
            </a:r>
            <a:br/>
            <a:r>
              <a:t>  - email: required, valid format, unique constraint</a:t>
            </a:r>
            <a:br/>
            <a:r>
              <a:t>  - consentGiven: required checkbox</a:t>
            </a:r>
            <a:br/>
            <a:r>
              <a:t>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7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Metrics &amp; Stats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1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Real-time statistics for homepage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Animated Stats (currently hardcoded, should be API-driven):</a:t>
            </a:r>
            <a:br/>
            <a:r>
              <a:t>  - 150 Robots in active service</a:t>
            </a:r>
            <a:br/>
            <a:r>
              <a:t>  - 45 Restaurants using robot delivery system</a:t>
            </a:r>
            <a:br/>
            <a:r>
              <a:t>  - 30 Hotels using robot delivery system</a:t>
            </a:r>
            <a:br/>
            <a:br/>
            <a:r>
              <a:t>Static Stats:</a:t>
            </a:r>
            <a:br/>
            <a:r>
              <a:t>  - 25+ Active Deployments</a:t>
            </a:r>
            <a:br/>
            <a:r>
              <a:t>  - 8+ Countries Served</a:t>
            </a:r>
            <a:br/>
            <a:r>
              <a:t>  - 500K+ Deliveries Completed</a:t>
            </a:r>
            <a:br/>
            <a:br/>
            <a:r>
              <a:t>Recommendation: Create GET /api/stats endpoint for real-time updates</a:t>
            </a:r>
            <a:br/>
            <a:r>
              <a:t>Data refresh: Every 5 minutes or on-demand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LOCALIZATION SYSTEM &amp;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Current implementation and bilingual content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Current Localization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React Context with localStorage persistence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Implementation: LocaleContext.tsx</a:t>
            </a:r>
            <a:br/>
            <a:r>
              <a:t>Supported Locales: 'en' (English), 'ja' (Japanese)</a:t>
            </a:r>
            <a:br/>
            <a:r>
              <a:t>Storage: localStorage key 'locale'</a:t>
            </a:r>
            <a:br/>
            <a:r>
              <a:t>Auto-detection: Browser language with fallback to English</a:t>
            </a:r>
            <a:br/>
            <a:r>
              <a:t>  - Checks navigator.language.startsWith('ja') → Japanese</a:t>
            </a:r>
            <a:br/>
            <a:r>
              <a:t>  - Default: English for all other languages</a:t>
            </a:r>
            <a:br/>
            <a:br/>
            <a:r>
              <a:t>Current Coverage:</a:t>
            </a:r>
            <a:br/>
            <a:r>
              <a:t>✅ FAQs: 12 English + 12 Japanese (fully localized)</a:t>
            </a:r>
            <a:br/>
            <a:r>
              <a:t>✅ Contact Page: Office address, map labels (partial)</a:t>
            </a:r>
            <a:br/>
            <a:r>
              <a:t>✅ Navbar: Language selector with EN/JA toggle</a:t>
            </a:r>
            <a:br/>
            <a:r>
              <a:t>⚠️ About Page: English only (needs Japanese translation)</a:t>
            </a:r>
            <a:br/>
            <a:r>
              <a:t>⚠️ Careers: All job listings English only</a:t>
            </a:r>
            <a:br/>
            <a:r>
              <a:t>⚠️ Products: Descriptions English only</a:t>
            </a:r>
            <a:br/>
            <a:r>
              <a:t>⚠️ Blog: All posts English only</a:t>
            </a:r>
            <a:br/>
            <a:r>
              <a:t>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Contact Page Localization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Bilingual address and map labels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English:</a:t>
            </a:r>
            <a:br/>
            <a:r>
              <a:t>  - Office label: "Office"</a:t>
            </a:r>
            <a:br/>
            <a:r>
              <a:t>  - Address: "Nagoya University Incubation Facility, Furo-cho, Chikusa Ward, Nagoya, Aichi 464-0814, Japan"</a:t>
            </a:r>
            <a:br/>
            <a:r>
              <a:t>  - Map marker: "Nagoya University Incubation Facility"</a:t>
            </a:r>
            <a:br/>
            <a:br/>
            <a:r>
              <a:t>Japanese:</a:t>
            </a:r>
            <a:br/>
            <a:r>
              <a:t>  - Office label: "オフィス"</a:t>
            </a:r>
            <a:br/>
            <a:r>
              <a:t>  - Address: "〒464-0814 愛知県名古屋市千種区不老町 名古屋大学 インキュベーション施設"</a:t>
            </a:r>
            <a:br/>
            <a:r>
              <a:t>  - Map marker: "名古屋大学 インキュベーション施設"</a:t>
            </a:r>
            <a:br/>
            <a:br/>
            <a:r>
              <a:t>Implementation: {locale === "ja" ? "日本語" : "English"}</a:t>
            </a:r>
            <a:br/>
            <a:r>
              <a:t>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FAQ Localization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Side-by-side English and Japanese Q&amp;A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English:</a:t>
            </a:r>
            <a:br/>
            <a:r>
              <a:t>Q: "What is Fainzy Technologies' specialty?"</a:t>
            </a:r>
            <a:br/>
            <a:r>
              <a:t>A: "We specialize on (1)advanced autonomous driving systems, (2)making robots,</a:t>
            </a:r>
            <a:br/>
            <a:r>
              <a:t>    (3)mobile app and website development, and, (4)AI applications using deep learning"</a:t>
            </a:r>
            <a:br/>
            <a:br/>
            <a:r>
              <a:t>Japanese:</a:t>
            </a:r>
            <a:br/>
            <a:r>
              <a:t>Q: "ファインジー・テクノロジーズの得意分野は何ですか？"</a:t>
            </a:r>
            <a:br/>
            <a:r>
              <a:t>A: "(1)高度な自律走行システム、(2)ロボット製作、(3)モバイルアプリ・ウェブサイト開発、</a:t>
            </a:r>
            <a:br/>
            <a:r>
              <a:t>    (4)ディープラーニングによるAIアプリケーションに特化した事業展開を行っています。"</a:t>
            </a:r>
            <a:br/>
            <a:br/>
            <a:r>
              <a:t>---</a:t>
            </a:r>
            <a:br/>
            <a:br/>
            <a:r>
              <a:t>English:</a:t>
            </a:r>
            <a:br/>
            <a:r>
              <a:t>Q: "How can I apply for a role?"</a:t>
            </a:r>
            <a:br/>
            <a:r>
              <a:t>A: "Please contact us using the Contact Us Form, (make sure to select 'Apply For A Role' as the Reason."</a:t>
            </a:r>
            <a:br/>
            <a:br/>
            <a:r>
              <a:t>Japanese:</a:t>
            </a:r>
            <a:br/>
            <a:r>
              <a:t>Q: "どのように応募すればよいのですか？"</a:t>
            </a:r>
            <a:br/>
            <a:r>
              <a:t>A: "お問い合わせフォームよりご連絡ください（必ず「応募する」を選択してください）。"</a:t>
            </a:r>
            <a:br/>
            <a:r>
              <a:t> 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Navigation Localization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5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Menu items translation recommendations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Current (English Only):</a:t>
            </a:r>
            <a:br/>
            <a:r>
              <a:t>  HOME, ABOUT, PRODUCTS, CAREERS, CONTACT, BLOG, BUSINESS, LOGIN</a:t>
            </a:r>
            <a:br/>
            <a:br/>
            <a:r>
              <a:t>Recommended Japanese Translations:</a:t>
            </a:r>
            <a:br/>
            <a:r>
              <a:t>  HOME → ホーム</a:t>
            </a:r>
            <a:br/>
            <a:r>
              <a:t>  ABOUT → 会社概要</a:t>
            </a:r>
            <a:br/>
            <a:r>
              <a:t>  PRODUCTS → 製品・サービス</a:t>
            </a:r>
            <a:br/>
            <a:r>
              <a:t>  CAREERS → 採用情報</a:t>
            </a:r>
            <a:br/>
            <a:r>
              <a:t>  CONTACT → お問い合わせ</a:t>
            </a:r>
            <a:br/>
            <a:r>
              <a:t>  BLOG → ブログ</a:t>
            </a:r>
            <a:br/>
            <a:r>
              <a:t>  BUSINESS → ビジネス</a:t>
            </a:r>
            <a:br/>
            <a:r>
              <a:t>  LOGIN → ログイン</a:t>
            </a:r>
            <a:br/>
            <a:br/>
            <a:r>
              <a:t>Language Selector:</a:t>
            </a:r>
            <a:br/>
            <a:r>
              <a:t>  - Globe icon with locale badge (EN/JA)</a:t>
            </a:r>
            <a:br/>
            <a:r>
              <a:t>  - Dropdown: "English" | "日本語"</a:t>
            </a:r>
            <a:br/>
            <a:r>
              <a:t>  - Checkmark indicates active language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LOCALIZATION GAPS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A3A3"/>
                </a:solidFill>
              </a:defRPr>
            </a:pPr>
            <a:r>
              <a:t>Translation priorities, file structure, and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Translation Priority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Pages requiring Japanese translation by priority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HIGH PRIORITY (Critical for Japanese users):</a:t>
            </a:r>
            <a:br/>
            <a:r>
              <a:t>✓ Navigation menu items (HOME, ABOUT, PRODUCTS, etc.)</a:t>
            </a:r>
            <a:br/>
            <a:r>
              <a:t>✓ Product names and descriptions (ZiBot, Glide, Consultancy)</a:t>
            </a:r>
            <a:br/>
            <a:r>
              <a:t>✓ Contact form labels and placeholders</a:t>
            </a:r>
            <a:br/>
            <a:r>
              <a:t>✓ Footer content and copyright</a:t>
            </a:r>
            <a:br/>
            <a:r>
              <a:t>✓ Error messages and validation text</a:t>
            </a:r>
            <a:br/>
            <a:br/>
            <a:r>
              <a:t>MEDIUM PRIORITY (Important for user experience):</a:t>
            </a:r>
            <a:br/>
            <a:r>
              <a:t>⚠️ About page content (company history, vision, mission)</a:t>
            </a:r>
            <a:br/>
            <a:r>
              <a:t>⚠️ Team member roles and bios</a:t>
            </a:r>
            <a:br/>
            <a:r>
              <a:t>⚠️ Career page intro and benefits section</a:t>
            </a:r>
            <a:br/>
            <a:r>
              <a:t>⚠️ Product feature descriptions</a:t>
            </a:r>
            <a:br/>
            <a:r>
              <a:t>⚠️ Custom solutions descriptions</a:t>
            </a:r>
            <a:br/>
            <a:br/>
            <a:r>
              <a:t>LOW PRIORITY (Can remain English):</a:t>
            </a:r>
            <a:br/>
            <a:r>
              <a:t>○ Blog post content (technical articles)</a:t>
            </a:r>
            <a:br/>
            <a:r>
              <a:t>○ Detailed job descriptions</a:t>
            </a:r>
            <a:br/>
            <a:r>
              <a:t>○ Technical documentation</a:t>
            </a:r>
            <a:br/>
            <a:r>
              <a:t>○ Legal terms and privacy policy (dual-language acceptable)</a:t>
            </a:r>
            <a:br/>
            <a:r>
              <a:t>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Recommended Translation File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Organized translation management system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Current Pattern: {locale === "ja" ? "日本語" : "English"} (inline ternary)</a:t>
            </a:r>
            <a:br/>
            <a:br/>
            <a:r>
              <a:t>Recommended: Separate translation files</a:t>
            </a:r>
            <a:br/>
            <a:br/>
            <a:r>
              <a:t>// translations/en.ts</a:t>
            </a:r>
            <a:br/>
            <a:r>
              <a:t>export const en = {</a:t>
            </a:r>
            <a:br/>
            <a:r>
              <a:t>  nav: { home: "HOME", about: "ABOUT", products: "PRODUCTS", ... },</a:t>
            </a:r>
            <a:br/>
            <a:r>
              <a:t>  contact: { title: "Get in touch", email: "Email", phone: "Phone", ... },</a:t>
            </a:r>
            <a:br/>
            <a:r>
              <a:t>  products: { zibot: "ZiBot Last Mile Delivery Robot System", ... },</a:t>
            </a:r>
            <a:br/>
            <a:r>
              <a:t>  common: { loading: "Loading...", error: "Error", success: "Success" }</a:t>
            </a:r>
            <a:br/>
            <a:r>
              <a:t>}</a:t>
            </a:r>
            <a:br/>
            <a:br/>
            <a:r>
              <a:t>// translations/ja.ts</a:t>
            </a:r>
            <a:br/>
            <a:r>
              <a:t>export const ja = {</a:t>
            </a:r>
            <a:br/>
            <a:r>
              <a:t>  nav: { home: "ホーム", about: "会社概要", products: "製品・サービス", ... },</a:t>
            </a:r>
            <a:br/>
            <a:r>
              <a:t>  contact: { title: "お問い合わせ", email: "メールアドレス", phone: "電話番号", ... },</a:t>
            </a:r>
            <a:br/>
            <a:r>
              <a:t>  products: { zibot: "ZiBot ラストワンマイル配送ロボットシステム", ... },</a:t>
            </a:r>
            <a:br/>
            <a:r>
              <a:t>  common: { loading: "読み込み中...", error: "エラー", success: "成功" }</a:t>
            </a:r>
            <a:br/>
            <a:r>
              <a:t>}</a:t>
            </a:r>
            <a:br/>
            <a:br/>
            <a:r>
              <a:t>Usage: const t = useTranslation(); &lt;h1&gt;{t('contact.title')}&lt;/h1&gt;</a:t>
            </a:r>
            <a:br/>
            <a:r>
              <a:t>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Page-by-Page Translation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Comprehensive coverage assessment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✅ Contact Page: 70% complete (address, labels done; form placeholders need work)</a:t>
            </a:r>
            <a:br/>
            <a:r>
              <a:t>✅ FAQs: 100% complete (12 EN + 12 JA)</a:t>
            </a:r>
            <a:br/>
            <a:r>
              <a:t>✅ Map Labels: 100% complete</a:t>
            </a:r>
            <a:br/>
            <a:r>
              <a:t>⚠️ Home Page: 30% complete (products section needs translation)</a:t>
            </a:r>
            <a:br/>
            <a:r>
              <a:t>⚠️ About Page: 0% complete (entire page in English)</a:t>
            </a:r>
            <a:br/>
            <a:r>
              <a:t>⚠️ Products Page: 20% complete (navigation only)</a:t>
            </a:r>
            <a:br/>
            <a:r>
              <a:t>⚠️ Careers Page: 10% complete (navigation only, all job listings English)</a:t>
            </a:r>
            <a:br/>
            <a:r>
              <a:t>⚠️ Blog Page: 10% complete (navigation only, all posts English)</a:t>
            </a:r>
            <a:br/>
            <a:r>
              <a:t>⚠️ Custom Solutions: 0% complete</a:t>
            </a:r>
            <a:br/>
            <a:br/>
            <a:r>
              <a:t>Total Pages: 14</a:t>
            </a:r>
            <a:br/>
            <a:r>
              <a:t>Fully Localized: 2 pages (14%)</a:t>
            </a:r>
            <a:br/>
            <a:r>
              <a:t>Partially Localized: 3 pages (21%)</a:t>
            </a:r>
            <a:br/>
            <a:r>
              <a:t>Not Localized: 9 pages (65%)</a:t>
            </a:r>
            <a:br/>
            <a:br/>
            <a:r>
              <a:t>Target: 100% coverage for High Priority pages within 3 months</a:t>
            </a:r>
            <a:br/>
            <a:r>
              <a:t> 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Implementation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5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Phased translation deployment plan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Phase 1 (Weeks 1-2): Critical Navigation &amp; Forms</a:t>
            </a:r>
            <a:br/>
            <a:r>
              <a:t>  - Translate navigation menu</a:t>
            </a:r>
            <a:br/>
            <a:r>
              <a:t>  - Translate all form labels, placeholders, validation messages</a:t>
            </a:r>
            <a:br/>
            <a:r>
              <a:t>  - Translate footer content</a:t>
            </a:r>
            <a:br/>
            <a:r>
              <a:t>  - Update contact page fully</a:t>
            </a:r>
            <a:br/>
            <a:br/>
            <a:r>
              <a:t>Phase 2 (Weeks 3-4): Product Content</a:t>
            </a:r>
            <a:br/>
            <a:r>
              <a:t>  - Translate product names and descriptions</a:t>
            </a:r>
            <a:br/>
            <a:r>
              <a:t>  - Translate custom solutions</a:t>
            </a:r>
            <a:br/>
            <a:r>
              <a:t>  - Translate feature lists and benefits</a:t>
            </a:r>
            <a:br/>
            <a:r>
              <a:t>  - Update product pages</a:t>
            </a:r>
            <a:br/>
            <a:br/>
            <a:r>
              <a:t>Phase 3 (Weeks 5-6): About &amp; Careers</a:t>
            </a:r>
            <a:br/>
            <a:r>
              <a:t>  - Translate about page content</a:t>
            </a:r>
            <a:br/>
            <a:r>
              <a:t>  - Translate team member roles</a:t>
            </a:r>
            <a:br/>
            <a:r>
              <a:t>  - Translate benefits and culture sections</a:t>
            </a:r>
            <a:br/>
            <a:r>
              <a:t>  - Note: Job listings can remain English (international hiring)</a:t>
            </a:r>
            <a:br/>
            <a:br/>
            <a:r>
              <a:t>Phase 4 (Weeks 7-8): Blog &amp; Dynamic Content</a:t>
            </a:r>
            <a:br/>
            <a:r>
              <a:t>  - Create Japanese blog category</a:t>
            </a:r>
            <a:br/>
            <a:r>
              <a:t>  - Translate blog post titles/descriptions (optional)</a:t>
            </a:r>
            <a:br/>
            <a:r>
              <a:t>  - Implement locale-based content filtering</a:t>
            </a:r>
            <a:br/>
            <a:br/>
            <a:r>
              <a:t>Maintenance: Ongoing translation for new content additions</a:t>
            </a:r>
            <a:br/>
            <a:r>
              <a:t>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79"/>
            <a:ext cx="1371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• Technical Implementation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19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Usage: Development guidelines for localization</a:t>
            </a:r>
          </a:p>
          <a:p>
            <a:pPr>
              <a:defRPr sz="1200">
                <a:solidFill>
                  <a:srgbClr val="C8C8C8"/>
                </a:solidFill>
              </a:defRPr>
            </a:pPr>
            <a:r>
              <a:t>Optimal Dimensions: N/A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Recommendation: Static Image</a:t>
            </a:r>
          </a:p>
          <a:p>
            <a:pPr>
              <a:defRPr sz="1100">
                <a:solidFill>
                  <a:srgbClr val="A3A3A3"/>
                </a:solidFill>
              </a:defRPr>
            </a:pPr>
            <a:r>
              <a:t>Context: </a:t>
            </a:r>
            <a:br/>
            <a:r>
              <a:t>Date/Time Formatting:</a:t>
            </a:r>
            <a:br/>
            <a:r>
              <a:t>  - English: "October 20, 2025" → Japanese: "2025年10月20日"</a:t>
            </a:r>
            <a:br/>
            <a:r>
              <a:t>  - Use Intl.DateTimeFormat for automatic formatting</a:t>
            </a:r>
            <a:br/>
            <a:br/>
            <a:r>
              <a:t>Number Formatting:</a:t>
            </a:r>
            <a:br/>
            <a:r>
              <a:t>  - English: "1,000" → Japanese: "1,000" (same)</a:t>
            </a:r>
            <a:br/>
            <a:r>
              <a:t>  - Currency: ₦ (Naira) remains consistent</a:t>
            </a:r>
            <a:br/>
            <a:br/>
            <a:r>
              <a:t>URL Structure Options:</a:t>
            </a:r>
            <a:br/>
            <a:r>
              <a:t>  - Option 1: Query param → /contact?lang=ja</a:t>
            </a:r>
            <a:br/>
            <a:r>
              <a:t>  - Option 2: Subdomain → ja.fainzy.ai</a:t>
            </a:r>
            <a:br/>
            <a:r>
              <a:t>  - Option 3: Path prefix → /ja/contact (Recommended)</a:t>
            </a:r>
            <a:br/>
            <a:br/>
            <a:r>
              <a:t>SEO Considerations:</a:t>
            </a:r>
            <a:br/>
            <a:r>
              <a:t>  - Add hreflang tags for each locale</a:t>
            </a:r>
            <a:br/>
            <a:r>
              <a:t>  - Separate meta descriptions per language</a:t>
            </a:r>
            <a:br/>
            <a:r>
              <a:t>  - Localized sitemaps</a:t>
            </a:r>
            <a:br/>
            <a:br/>
            <a:r>
              <a:t>Testing Strategy:</a:t>
            </a:r>
            <a:br/>
            <a:r>
              <a:t>  - Test locale switching without page reload</a:t>
            </a:r>
            <a:br/>
            <a:r>
              <a:t>  - Verify localStorage persistence</a:t>
            </a:r>
            <a:br/>
            <a:r>
              <a:t>  - Check RTL support (not needed for Japanese, but good practice)</a:t>
            </a:r>
            <a:br/>
            <a:r>
              <a:t>  - Validate all forms in both languages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